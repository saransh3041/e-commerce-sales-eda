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Aileron" panose="020B0604020202020204" charset="0"/>
      <p:regular r:id="rId17"/>
    </p:embeddedFont>
    <p:embeddedFont>
      <p:font typeface="Aileron Ultra-Bold" panose="020B0604020202020204" charset="0"/>
      <p:regular r:id="rId18"/>
    </p:embeddedFont>
    <p:embeddedFont>
      <p:font typeface="Barabara" panose="020B0604020202020204" charset="0"/>
      <p:regular r:id="rId19"/>
    </p:embeddedFont>
    <p:embeddedFont>
      <p:font typeface="Canva Sans" panose="020B0604020202020204" charset="0"/>
      <p:regular r:id="rId20"/>
    </p:embeddedFont>
    <p:embeddedFont>
      <p:font typeface="Canva Sans Bold" panose="020B0604020202020204" charset="0"/>
      <p:regular r:id="rId21"/>
    </p:embeddedFont>
    <p:embeddedFont>
      <p:font typeface="Duru Sans" panose="020B0604020202020204" charset="0"/>
      <p:regular r:id="rId22"/>
    </p:embeddedFont>
    <p:embeddedFont>
      <p:font typeface="Josefin Sans" pitchFamily="2" charset="0"/>
      <p:regular r:id="rId23"/>
    </p:embeddedFont>
    <p:embeddedFont>
      <p:font typeface="Josefin Sans Bold" pitchFamily="2" charset="0"/>
      <p:regular r:id="rId24"/>
      <p:boldItalic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6" d="100"/>
          <a:sy n="46" d="100"/>
        </p:scale>
        <p:origin x="756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10859" cy="10287000"/>
          </a:xfrm>
          <a:custGeom>
            <a:avLst/>
            <a:gdLst/>
            <a:ahLst/>
            <a:cxnLst/>
            <a:rect l="l" t="t" r="r" b="b"/>
            <a:pathLst>
              <a:path w="18210859" h="10287000">
                <a:moveTo>
                  <a:pt x="0" y="0"/>
                </a:moveTo>
                <a:lnTo>
                  <a:pt x="18210859" y="0"/>
                </a:lnTo>
                <a:lnTo>
                  <a:pt x="1821085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432" r="-6151" b="-144"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30274" y="8112404"/>
            <a:ext cx="2927050" cy="2903275"/>
            <a:chOff x="0" y="0"/>
            <a:chExt cx="773718" cy="7674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73718" cy="767433"/>
            </a:xfrm>
            <a:custGeom>
              <a:avLst/>
              <a:gdLst/>
              <a:ahLst/>
              <a:cxnLst/>
              <a:rect l="l" t="t" r="r" b="b"/>
              <a:pathLst>
                <a:path w="773718" h="767433">
                  <a:moveTo>
                    <a:pt x="386859" y="0"/>
                  </a:moveTo>
                  <a:lnTo>
                    <a:pt x="773718" y="383717"/>
                  </a:lnTo>
                  <a:lnTo>
                    <a:pt x="386859" y="767433"/>
                  </a:lnTo>
                  <a:lnTo>
                    <a:pt x="0" y="383717"/>
                  </a:lnTo>
                  <a:lnTo>
                    <a:pt x="386859" y="0"/>
                  </a:lnTo>
                  <a:close/>
                </a:path>
              </a:pathLst>
            </a:custGeom>
            <a:solidFill>
              <a:srgbClr val="D630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32983" y="84278"/>
              <a:ext cx="507752" cy="5512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43706" y="8422921"/>
            <a:ext cx="3744918" cy="3728158"/>
            <a:chOff x="0" y="0"/>
            <a:chExt cx="715203" cy="71200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15203" cy="712002"/>
            </a:xfrm>
            <a:custGeom>
              <a:avLst/>
              <a:gdLst/>
              <a:ahLst/>
              <a:cxnLst/>
              <a:rect l="l" t="t" r="r" b="b"/>
              <a:pathLst>
                <a:path w="715203" h="712002">
                  <a:moveTo>
                    <a:pt x="357601" y="0"/>
                  </a:moveTo>
                  <a:lnTo>
                    <a:pt x="715203" y="356001"/>
                  </a:lnTo>
                  <a:lnTo>
                    <a:pt x="357601" y="712002"/>
                  </a:lnTo>
                  <a:lnTo>
                    <a:pt x="0" y="356001"/>
                  </a:lnTo>
                  <a:lnTo>
                    <a:pt x="357601" y="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D630FF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22925" y="74750"/>
              <a:ext cx="469352" cy="5148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561231" y="3520467"/>
            <a:ext cx="681317" cy="801550"/>
          </a:xfrm>
          <a:custGeom>
            <a:avLst/>
            <a:gdLst/>
            <a:ahLst/>
            <a:cxnLst/>
            <a:rect l="l" t="t" r="r" b="b"/>
            <a:pathLst>
              <a:path w="681317" h="801550">
                <a:moveTo>
                  <a:pt x="0" y="0"/>
                </a:moveTo>
                <a:lnTo>
                  <a:pt x="681317" y="0"/>
                </a:lnTo>
                <a:lnTo>
                  <a:pt x="681317" y="801550"/>
                </a:lnTo>
                <a:lnTo>
                  <a:pt x="0" y="8015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561231" y="5328251"/>
            <a:ext cx="681317" cy="801550"/>
          </a:xfrm>
          <a:custGeom>
            <a:avLst/>
            <a:gdLst/>
            <a:ahLst/>
            <a:cxnLst/>
            <a:rect l="l" t="t" r="r" b="b"/>
            <a:pathLst>
              <a:path w="681317" h="801550">
                <a:moveTo>
                  <a:pt x="0" y="0"/>
                </a:moveTo>
                <a:lnTo>
                  <a:pt x="681317" y="0"/>
                </a:lnTo>
                <a:lnTo>
                  <a:pt x="681317" y="801550"/>
                </a:lnTo>
                <a:lnTo>
                  <a:pt x="0" y="8015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80744" y="181511"/>
            <a:ext cx="8394694" cy="280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 b="1">
                <a:solidFill>
                  <a:srgbClr val="000000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COMPANY </a:t>
            </a:r>
            <a:r>
              <a:rPr lang="en-US" sz="8000" b="1">
                <a:solidFill>
                  <a:srgbClr val="C521ED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BACKGROUND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56139" y="5297762"/>
            <a:ext cx="11346296" cy="118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20"/>
              </a:lnSpc>
              <a:spcBef>
                <a:spcPct val="0"/>
              </a:spcBef>
            </a:pPr>
            <a:r>
              <a:rPr lang="en-US" sz="2300" spc="230">
                <a:solidFill>
                  <a:srgbClr val="000000"/>
                </a:solidFill>
                <a:latin typeface="Duru Sans"/>
                <a:ea typeface="Duru Sans"/>
                <a:cs typeface="Duru Sans"/>
                <a:sym typeface="Duru Sans"/>
              </a:rPr>
              <a:t>WE HAVE A WIDE ASSORTMENT OF OFFERINGS ACROSS ESTABLISHED NATIONAL BRANDS, INTERNATIONAL BRANDS, LUXURY BRANDS, AND EMERGING LABELS AND DESIGNERS.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56139" y="6772867"/>
            <a:ext cx="11346296" cy="118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20"/>
              </a:lnSpc>
            </a:pPr>
            <a:r>
              <a:rPr lang="en-US" sz="2300" spc="230">
                <a:solidFill>
                  <a:srgbClr val="000000"/>
                </a:solidFill>
                <a:latin typeface="Duru Sans"/>
                <a:ea typeface="Duru Sans"/>
                <a:cs typeface="Duru Sans"/>
                <a:sym typeface="Duru Sans"/>
              </a:rPr>
              <a:t>OUR MISSION IS TO IMPROVE THE FASHION SENSE OF PEOPLE BY</a:t>
            </a:r>
          </a:p>
          <a:p>
            <a:pPr algn="just">
              <a:lnSpc>
                <a:spcPts val="3220"/>
              </a:lnSpc>
            </a:pPr>
            <a:r>
              <a:rPr lang="en-US" sz="2300" spc="230">
                <a:solidFill>
                  <a:srgbClr val="000000"/>
                </a:solidFill>
                <a:latin typeface="Duru Sans"/>
                <a:ea typeface="Duru Sans"/>
                <a:cs typeface="Duru Sans"/>
                <a:sym typeface="Duru Sans"/>
              </a:rPr>
              <a:t>PROVIDING NEW LASTEST FASHION AT REASONABLE PRICE.</a:t>
            </a:r>
          </a:p>
          <a:p>
            <a:pPr algn="just">
              <a:lnSpc>
                <a:spcPts val="3220"/>
              </a:lnSpc>
              <a:spcBef>
                <a:spcPct val="0"/>
              </a:spcBef>
            </a:pPr>
            <a:r>
              <a:rPr lang="en-US" sz="2300" spc="230">
                <a:solidFill>
                  <a:srgbClr val="000000"/>
                </a:solidFill>
                <a:latin typeface="Duru Sans"/>
                <a:ea typeface="Duru Sans"/>
                <a:cs typeface="Duru Sans"/>
                <a:sym typeface="Duru Sans"/>
              </a:rPr>
              <a:t>  </a:t>
            </a:r>
          </a:p>
        </p:txBody>
      </p:sp>
      <p:sp>
        <p:nvSpPr>
          <p:cNvPr id="13" name="Freeform 13"/>
          <p:cNvSpPr/>
          <p:nvPr/>
        </p:nvSpPr>
        <p:spPr>
          <a:xfrm>
            <a:off x="561231" y="6720328"/>
            <a:ext cx="681317" cy="801550"/>
          </a:xfrm>
          <a:custGeom>
            <a:avLst/>
            <a:gdLst/>
            <a:ahLst/>
            <a:cxnLst/>
            <a:rect l="l" t="t" r="r" b="b"/>
            <a:pathLst>
              <a:path w="681317" h="801550">
                <a:moveTo>
                  <a:pt x="0" y="0"/>
                </a:moveTo>
                <a:lnTo>
                  <a:pt x="681317" y="0"/>
                </a:lnTo>
                <a:lnTo>
                  <a:pt x="681317" y="801549"/>
                </a:lnTo>
                <a:lnTo>
                  <a:pt x="0" y="801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356139" y="3422608"/>
            <a:ext cx="11346296" cy="1589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20"/>
              </a:lnSpc>
              <a:spcBef>
                <a:spcPct val="0"/>
              </a:spcBef>
            </a:pPr>
            <a:r>
              <a:rPr lang="en-US" sz="2300" spc="230">
                <a:solidFill>
                  <a:srgbClr val="000000"/>
                </a:solidFill>
                <a:latin typeface="Duru Sans"/>
                <a:ea typeface="Duru Sans"/>
                <a:cs typeface="Duru Sans"/>
                <a:sym typeface="Duru Sans"/>
              </a:rPr>
              <a:t>AN ONLINE RETAIL STORE LAUNCHED WITH THE AMBITIONS OF CLEARING THOUSANDS OF DOUBTS RELATED TO FASHION &amp; LIFESTYLE, WE INSPIRE CONSUMERS TO MAKE FASHION AND LIFESTYLE CHOICES THAT BEST SUIT THEM.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30274" y="8112404"/>
            <a:ext cx="2927050" cy="2903275"/>
            <a:chOff x="0" y="0"/>
            <a:chExt cx="773718" cy="7674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73718" cy="767433"/>
            </a:xfrm>
            <a:custGeom>
              <a:avLst/>
              <a:gdLst/>
              <a:ahLst/>
              <a:cxnLst/>
              <a:rect l="l" t="t" r="r" b="b"/>
              <a:pathLst>
                <a:path w="773718" h="767433">
                  <a:moveTo>
                    <a:pt x="386859" y="0"/>
                  </a:moveTo>
                  <a:lnTo>
                    <a:pt x="773718" y="383717"/>
                  </a:lnTo>
                  <a:lnTo>
                    <a:pt x="386859" y="767433"/>
                  </a:lnTo>
                  <a:lnTo>
                    <a:pt x="0" y="383717"/>
                  </a:lnTo>
                  <a:lnTo>
                    <a:pt x="386859" y="0"/>
                  </a:lnTo>
                  <a:close/>
                </a:path>
              </a:pathLst>
            </a:custGeom>
            <a:solidFill>
              <a:srgbClr val="D630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32983" y="84278"/>
              <a:ext cx="507752" cy="5512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43706" y="8422921"/>
            <a:ext cx="3744918" cy="3728158"/>
            <a:chOff x="0" y="0"/>
            <a:chExt cx="715203" cy="71200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15203" cy="712002"/>
            </a:xfrm>
            <a:custGeom>
              <a:avLst/>
              <a:gdLst/>
              <a:ahLst/>
              <a:cxnLst/>
              <a:rect l="l" t="t" r="r" b="b"/>
              <a:pathLst>
                <a:path w="715203" h="712002">
                  <a:moveTo>
                    <a:pt x="357601" y="0"/>
                  </a:moveTo>
                  <a:lnTo>
                    <a:pt x="715203" y="356001"/>
                  </a:lnTo>
                  <a:lnTo>
                    <a:pt x="357601" y="712002"/>
                  </a:lnTo>
                  <a:lnTo>
                    <a:pt x="0" y="356001"/>
                  </a:lnTo>
                  <a:lnTo>
                    <a:pt x="357601" y="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D630FF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22925" y="74750"/>
              <a:ext cx="469352" cy="5148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622796" y="3766657"/>
            <a:ext cx="562962" cy="662308"/>
          </a:xfrm>
          <a:custGeom>
            <a:avLst/>
            <a:gdLst/>
            <a:ahLst/>
            <a:cxnLst/>
            <a:rect l="l" t="t" r="r" b="b"/>
            <a:pathLst>
              <a:path w="562962" h="662308">
                <a:moveTo>
                  <a:pt x="0" y="0"/>
                </a:moveTo>
                <a:lnTo>
                  <a:pt x="562961" y="0"/>
                </a:lnTo>
                <a:lnTo>
                  <a:pt x="562961" y="662308"/>
                </a:lnTo>
                <a:lnTo>
                  <a:pt x="0" y="6623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622796" y="5072161"/>
            <a:ext cx="562962" cy="662308"/>
          </a:xfrm>
          <a:custGeom>
            <a:avLst/>
            <a:gdLst/>
            <a:ahLst/>
            <a:cxnLst/>
            <a:rect l="l" t="t" r="r" b="b"/>
            <a:pathLst>
              <a:path w="562962" h="662308">
                <a:moveTo>
                  <a:pt x="0" y="0"/>
                </a:moveTo>
                <a:lnTo>
                  <a:pt x="562961" y="0"/>
                </a:lnTo>
                <a:lnTo>
                  <a:pt x="562961" y="662308"/>
                </a:lnTo>
                <a:lnTo>
                  <a:pt x="0" y="6623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622796" y="6382169"/>
            <a:ext cx="562962" cy="662308"/>
          </a:xfrm>
          <a:custGeom>
            <a:avLst/>
            <a:gdLst/>
            <a:ahLst/>
            <a:cxnLst/>
            <a:rect l="l" t="t" r="r" b="b"/>
            <a:pathLst>
              <a:path w="562962" h="662308">
                <a:moveTo>
                  <a:pt x="0" y="0"/>
                </a:moveTo>
                <a:lnTo>
                  <a:pt x="562961" y="0"/>
                </a:lnTo>
                <a:lnTo>
                  <a:pt x="562961" y="662308"/>
                </a:lnTo>
                <a:lnTo>
                  <a:pt x="0" y="6623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904276" y="-2829"/>
            <a:ext cx="7413910" cy="3230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942"/>
              </a:lnSpc>
            </a:pPr>
            <a:r>
              <a:rPr lang="en-US" sz="9244" b="1">
                <a:solidFill>
                  <a:srgbClr val="000000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PROBLEM </a:t>
            </a:r>
            <a:r>
              <a:rPr lang="en-US" sz="9244" b="1">
                <a:solidFill>
                  <a:srgbClr val="C521ED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STATEMENT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40483" y="3532912"/>
            <a:ext cx="11155290" cy="118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20"/>
              </a:lnSpc>
              <a:spcBef>
                <a:spcPct val="0"/>
              </a:spcBef>
            </a:pPr>
            <a:r>
              <a:rPr lang="en-US" sz="2300" spc="230">
                <a:solidFill>
                  <a:srgbClr val="000000"/>
                </a:solidFill>
                <a:latin typeface="Duru Sans"/>
                <a:ea typeface="Duru Sans"/>
                <a:cs typeface="Duru Sans"/>
                <a:sym typeface="Duru Sans"/>
              </a:rPr>
              <a:t>THE COMPANY IS FACING MULTIPLE OPEARTIONAL CHALLENGES THAT CREATE HINDRANCE IN ACHIEVING THEIR OWN GOAL.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40483" y="6425987"/>
            <a:ext cx="11155290" cy="118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20"/>
              </a:lnSpc>
              <a:spcBef>
                <a:spcPct val="0"/>
              </a:spcBef>
            </a:pPr>
            <a:r>
              <a:rPr lang="en-US" sz="2300" spc="230">
                <a:solidFill>
                  <a:srgbClr val="000000"/>
                </a:solidFill>
                <a:latin typeface="Duru Sans"/>
                <a:ea typeface="Duru Sans"/>
                <a:cs typeface="Duru Sans"/>
                <a:sym typeface="Duru Sans"/>
              </a:rPr>
              <a:t>TO DRILL DOWN INTO THESE ISSUES, THE COMPANY IS LEVERAGING DATA-DRIVEN INSIGHTS TO OPTIMIZE OPERATIONS.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40483" y="4931817"/>
            <a:ext cx="11510016" cy="118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20"/>
              </a:lnSpc>
              <a:spcBef>
                <a:spcPct val="0"/>
              </a:spcBef>
            </a:pPr>
            <a:r>
              <a:rPr lang="en-US" sz="2300" spc="230">
                <a:solidFill>
                  <a:srgbClr val="000000"/>
                </a:solidFill>
                <a:latin typeface="Duru Sans"/>
                <a:ea typeface="Duru Sans"/>
                <a:cs typeface="Duru Sans"/>
                <a:sym typeface="Duru Sans"/>
              </a:rPr>
              <a:t>THE COMPANY IS CURRENTLY EXPERIENCING OPERATIONAL GAPS ACROSS MULTIPLE AREAS, INCLUDING FINANCIAL, LOGISTICS, PRODUCT MANAGEMENT, AND CUSTOMER SATISFACTION.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7219" y="-204959"/>
            <a:ext cx="9808214" cy="31208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482"/>
              </a:lnSpc>
            </a:pPr>
            <a:r>
              <a:rPr lang="en-US" sz="8916" b="1">
                <a:solidFill>
                  <a:srgbClr val="000000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PROJECT </a:t>
            </a:r>
            <a:r>
              <a:rPr lang="en-US" sz="8916" b="1">
                <a:solidFill>
                  <a:srgbClr val="C521ED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INTRODUCTION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016996" y="5315243"/>
            <a:ext cx="4165550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 u="sng" spc="230">
                <a:solidFill>
                  <a:srgbClr val="000000"/>
                </a:solidFill>
                <a:latin typeface="Barabara"/>
                <a:ea typeface="Barabara"/>
                <a:cs typeface="Barabara"/>
                <a:sym typeface="Barabara"/>
              </a:rPr>
              <a:t>DATA ANALYSIS TOOLS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26909" y="6095414"/>
            <a:ext cx="13927715" cy="789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 b="1" u="sng" spc="230" dirty="0">
                <a:solidFill>
                  <a:srgbClr val="000000"/>
                </a:solidFill>
                <a:latin typeface="Duru Sans"/>
                <a:ea typeface="Duru Sans"/>
                <a:cs typeface="Duru Sans"/>
                <a:sym typeface="Duru Sans"/>
              </a:rPr>
              <a:t>M</a:t>
            </a:r>
            <a:r>
              <a:rPr lang="en-US" sz="2300" b="1" u="sng" spc="230" dirty="0">
                <a:solidFill>
                  <a:srgbClr val="231F20"/>
                </a:solidFill>
                <a:latin typeface="Duru Sans"/>
                <a:ea typeface="Duru Sans"/>
                <a:cs typeface="Duru Sans"/>
                <a:sym typeface="Duru Sans"/>
              </a:rPr>
              <a:t>S-EXCEL</a:t>
            </a:r>
            <a:r>
              <a:rPr lang="en-US" sz="2300" b="1" spc="230" dirty="0">
                <a:solidFill>
                  <a:srgbClr val="000000"/>
                </a:solidFill>
                <a:latin typeface="Duru Sans"/>
                <a:ea typeface="Duru Sans"/>
                <a:cs typeface="Duru Sans"/>
                <a:sym typeface="Duru Sans"/>
              </a:rPr>
              <a:t>-</a:t>
            </a:r>
            <a:r>
              <a:rPr lang="en-US" sz="2300" spc="230" dirty="0">
                <a:solidFill>
                  <a:srgbClr val="000000"/>
                </a:solidFill>
                <a:latin typeface="Duru Sans"/>
                <a:ea typeface="Duru Sans"/>
                <a:cs typeface="Duru Sans"/>
                <a:sym typeface="Duru Sans"/>
              </a:rPr>
              <a:t>  IT HELPS IN OPENING THE CSV FILE AND UNDERSTANDING THE DATA STRUCTURE.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26909" y="7265719"/>
            <a:ext cx="13927715" cy="789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 b="1" u="sng" spc="230" dirty="0">
                <a:solidFill>
                  <a:srgbClr val="000000"/>
                </a:solidFill>
                <a:latin typeface="Duru Sans"/>
                <a:ea typeface="Duru Sans"/>
                <a:cs typeface="Duru Sans"/>
                <a:sym typeface="Duru Sans"/>
              </a:rPr>
              <a:t>PYTHON</a:t>
            </a:r>
            <a:r>
              <a:rPr lang="en-US" sz="2300" u="sng" spc="230" dirty="0">
                <a:solidFill>
                  <a:srgbClr val="000000"/>
                </a:solidFill>
                <a:latin typeface="Duru Sans"/>
                <a:ea typeface="Duru Sans"/>
                <a:cs typeface="Duru Sans"/>
                <a:sym typeface="Duru Sans"/>
              </a:rPr>
              <a:t> </a:t>
            </a:r>
            <a:r>
              <a:rPr lang="en-US" sz="2300" b="1" u="sng" spc="230" dirty="0">
                <a:solidFill>
                  <a:srgbClr val="000000"/>
                </a:solidFill>
                <a:latin typeface="Duru Sans"/>
                <a:ea typeface="Duru Sans"/>
                <a:cs typeface="Duru Sans"/>
                <a:sym typeface="Duru Sans"/>
              </a:rPr>
              <a:t>LIBRARIES</a:t>
            </a:r>
            <a:r>
              <a:rPr lang="en-US" sz="2300" b="1" spc="230" dirty="0">
                <a:solidFill>
                  <a:srgbClr val="000000"/>
                </a:solidFill>
                <a:latin typeface="Duru Sans"/>
                <a:ea typeface="Duru Sans"/>
                <a:cs typeface="Duru Sans"/>
                <a:sym typeface="Duru Sans"/>
              </a:rPr>
              <a:t>-</a:t>
            </a:r>
            <a:r>
              <a:rPr lang="en-US" sz="2300" spc="230" dirty="0">
                <a:solidFill>
                  <a:srgbClr val="000000"/>
                </a:solidFill>
                <a:latin typeface="Duru Sans"/>
                <a:ea typeface="Duru Sans"/>
                <a:cs typeface="Duru Sans"/>
                <a:sym typeface="Duru Sans"/>
              </a:rPr>
              <a:t> PANDAS WAS USED FOR TRANSFORMING THE RAW DATA, HANDELING THE MISSING VALUES AND CREATING THE NEW COLUMNS.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26909" y="8439785"/>
            <a:ext cx="13927715" cy="1613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1" u="sng" spc="230" dirty="0">
                <a:solidFill>
                  <a:srgbClr val="000000"/>
                </a:solidFill>
                <a:latin typeface="Duru Sans"/>
                <a:ea typeface="Duru Sans"/>
                <a:cs typeface="Duru Sans"/>
                <a:sym typeface="Duru Sans"/>
              </a:rPr>
              <a:t>POWER BI</a:t>
            </a:r>
            <a:r>
              <a:rPr lang="en-US" sz="2300" b="1" spc="230" dirty="0">
                <a:solidFill>
                  <a:srgbClr val="000000"/>
                </a:solidFill>
                <a:latin typeface="Duru Sans"/>
                <a:ea typeface="Duru Sans"/>
                <a:cs typeface="Duru Sans"/>
                <a:sym typeface="Duru Sans"/>
              </a:rPr>
              <a:t>-</a:t>
            </a:r>
            <a:r>
              <a:rPr lang="en-US" sz="2300" spc="230" dirty="0">
                <a:solidFill>
                  <a:srgbClr val="000000"/>
                </a:solidFill>
                <a:latin typeface="Duru Sans"/>
                <a:ea typeface="Duru Sans"/>
                <a:cs typeface="Duru Sans"/>
                <a:sym typeface="Duru Sans"/>
              </a:rPr>
              <a:t> THROUGH THE POWER BI WE HAVE MADE THE INTERACTIVE DASHBOARD WHICH IS EASIER TO ANALYZE SALES TRENDS, PRODUCT PERFORMANCE AND CUSTOMER BEHAVIOR.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  <a:endParaRPr lang="en-US" sz="2300" spc="230" dirty="0">
              <a:solidFill>
                <a:srgbClr val="000000"/>
              </a:solidFill>
              <a:latin typeface="Duru Sans"/>
              <a:ea typeface="Duru Sans"/>
              <a:cs typeface="Duru Sans"/>
              <a:sym typeface="Duru Sans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465738" y="6143039"/>
            <a:ext cx="562962" cy="662308"/>
          </a:xfrm>
          <a:custGeom>
            <a:avLst/>
            <a:gdLst/>
            <a:ahLst/>
            <a:cxnLst/>
            <a:rect l="l" t="t" r="r" b="b"/>
            <a:pathLst>
              <a:path w="562962" h="662308">
                <a:moveTo>
                  <a:pt x="0" y="0"/>
                </a:moveTo>
                <a:lnTo>
                  <a:pt x="562962" y="0"/>
                </a:lnTo>
                <a:lnTo>
                  <a:pt x="562962" y="662308"/>
                </a:lnTo>
                <a:lnTo>
                  <a:pt x="0" y="6623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465738" y="7392716"/>
            <a:ext cx="562962" cy="662308"/>
          </a:xfrm>
          <a:custGeom>
            <a:avLst/>
            <a:gdLst/>
            <a:ahLst/>
            <a:cxnLst/>
            <a:rect l="l" t="t" r="r" b="b"/>
            <a:pathLst>
              <a:path w="562962" h="662308">
                <a:moveTo>
                  <a:pt x="0" y="0"/>
                </a:moveTo>
                <a:lnTo>
                  <a:pt x="562962" y="0"/>
                </a:lnTo>
                <a:lnTo>
                  <a:pt x="562962" y="662308"/>
                </a:lnTo>
                <a:lnTo>
                  <a:pt x="0" y="6623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65738" y="8642393"/>
            <a:ext cx="562962" cy="662308"/>
          </a:xfrm>
          <a:custGeom>
            <a:avLst/>
            <a:gdLst/>
            <a:ahLst/>
            <a:cxnLst/>
            <a:rect l="l" t="t" r="r" b="b"/>
            <a:pathLst>
              <a:path w="562962" h="662308">
                <a:moveTo>
                  <a:pt x="0" y="0"/>
                </a:moveTo>
                <a:lnTo>
                  <a:pt x="562962" y="0"/>
                </a:lnTo>
                <a:lnTo>
                  <a:pt x="562962" y="662308"/>
                </a:lnTo>
                <a:lnTo>
                  <a:pt x="0" y="6623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326909" y="3344838"/>
            <a:ext cx="13927715" cy="1589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 spc="230">
                <a:solidFill>
                  <a:srgbClr val="000000"/>
                </a:solidFill>
                <a:latin typeface="Duru Sans"/>
                <a:ea typeface="Duru Sans"/>
                <a:cs typeface="Duru Sans"/>
                <a:sym typeface="Duru Sans"/>
              </a:rPr>
              <a:t>THIS PROJECT FOCUSES ON ANALYZING AN E-COMMERCE COMPANY’S DATA TO UNDERSTAND ITS OVERALL PERFORMANCE.OUR AIM TO UNCOVER KEY ISSUES, UNDERSTAND BUSINESS TRENDS, AND PROVIDE DATA-DRIVEN RECOMMENDATIONS.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5795775" y="-1451637"/>
            <a:ext cx="2927050" cy="2903275"/>
            <a:chOff x="0" y="0"/>
            <a:chExt cx="773718" cy="76743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73718" cy="767433"/>
            </a:xfrm>
            <a:custGeom>
              <a:avLst/>
              <a:gdLst/>
              <a:ahLst/>
              <a:cxnLst/>
              <a:rect l="l" t="t" r="r" b="b"/>
              <a:pathLst>
                <a:path w="773718" h="767433">
                  <a:moveTo>
                    <a:pt x="386859" y="0"/>
                  </a:moveTo>
                  <a:lnTo>
                    <a:pt x="773718" y="383717"/>
                  </a:lnTo>
                  <a:lnTo>
                    <a:pt x="386859" y="767433"/>
                  </a:lnTo>
                  <a:lnTo>
                    <a:pt x="0" y="383717"/>
                  </a:lnTo>
                  <a:lnTo>
                    <a:pt x="386859" y="0"/>
                  </a:lnTo>
                  <a:close/>
                </a:path>
              </a:pathLst>
            </a:custGeom>
            <a:solidFill>
              <a:srgbClr val="D630F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132983" y="84278"/>
              <a:ext cx="507752" cy="5512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139864" y="-1864079"/>
            <a:ext cx="3744918" cy="3728158"/>
            <a:chOff x="0" y="0"/>
            <a:chExt cx="715203" cy="71200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15203" cy="712002"/>
            </a:xfrm>
            <a:custGeom>
              <a:avLst/>
              <a:gdLst/>
              <a:ahLst/>
              <a:cxnLst/>
              <a:rect l="l" t="t" r="r" b="b"/>
              <a:pathLst>
                <a:path w="715203" h="712002">
                  <a:moveTo>
                    <a:pt x="357601" y="0"/>
                  </a:moveTo>
                  <a:lnTo>
                    <a:pt x="715203" y="356001"/>
                  </a:lnTo>
                  <a:lnTo>
                    <a:pt x="357601" y="712002"/>
                  </a:lnTo>
                  <a:lnTo>
                    <a:pt x="0" y="356001"/>
                  </a:lnTo>
                  <a:lnTo>
                    <a:pt x="357601" y="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D630FF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22925" y="74750"/>
              <a:ext cx="469352" cy="5148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30274" y="8112404"/>
            <a:ext cx="2927050" cy="2903275"/>
            <a:chOff x="0" y="0"/>
            <a:chExt cx="773718" cy="7674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73718" cy="767433"/>
            </a:xfrm>
            <a:custGeom>
              <a:avLst/>
              <a:gdLst/>
              <a:ahLst/>
              <a:cxnLst/>
              <a:rect l="l" t="t" r="r" b="b"/>
              <a:pathLst>
                <a:path w="773718" h="767433">
                  <a:moveTo>
                    <a:pt x="386859" y="0"/>
                  </a:moveTo>
                  <a:lnTo>
                    <a:pt x="773718" y="383717"/>
                  </a:lnTo>
                  <a:lnTo>
                    <a:pt x="386859" y="767433"/>
                  </a:lnTo>
                  <a:lnTo>
                    <a:pt x="0" y="383717"/>
                  </a:lnTo>
                  <a:lnTo>
                    <a:pt x="386859" y="0"/>
                  </a:lnTo>
                  <a:close/>
                </a:path>
              </a:pathLst>
            </a:custGeom>
            <a:solidFill>
              <a:srgbClr val="D630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32983" y="84278"/>
              <a:ext cx="507752" cy="5512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43706" y="8422921"/>
            <a:ext cx="3744918" cy="3728158"/>
            <a:chOff x="0" y="0"/>
            <a:chExt cx="715203" cy="71200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15203" cy="712002"/>
            </a:xfrm>
            <a:custGeom>
              <a:avLst/>
              <a:gdLst/>
              <a:ahLst/>
              <a:cxnLst/>
              <a:rect l="l" t="t" r="r" b="b"/>
              <a:pathLst>
                <a:path w="715203" h="712002">
                  <a:moveTo>
                    <a:pt x="357601" y="0"/>
                  </a:moveTo>
                  <a:lnTo>
                    <a:pt x="715203" y="356001"/>
                  </a:lnTo>
                  <a:lnTo>
                    <a:pt x="357601" y="712002"/>
                  </a:lnTo>
                  <a:lnTo>
                    <a:pt x="0" y="356001"/>
                  </a:lnTo>
                  <a:lnTo>
                    <a:pt x="357601" y="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D630FF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22925" y="74750"/>
              <a:ext cx="469352" cy="5148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89684" y="472395"/>
            <a:ext cx="17508632" cy="1311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640"/>
              </a:lnSpc>
            </a:pPr>
            <a:r>
              <a:rPr lang="en-US" sz="7600" b="1">
                <a:solidFill>
                  <a:srgbClr val="000000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DATA </a:t>
            </a:r>
            <a:r>
              <a:rPr lang="en-US" sz="7600" b="1">
                <a:solidFill>
                  <a:srgbClr val="C521ED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CHALLENGES </a:t>
            </a:r>
          </a:p>
        </p:txBody>
      </p:sp>
      <p:sp>
        <p:nvSpPr>
          <p:cNvPr id="9" name="Freeform 9"/>
          <p:cNvSpPr/>
          <p:nvPr/>
        </p:nvSpPr>
        <p:spPr>
          <a:xfrm>
            <a:off x="646115" y="4996636"/>
            <a:ext cx="562962" cy="662308"/>
          </a:xfrm>
          <a:custGeom>
            <a:avLst/>
            <a:gdLst/>
            <a:ahLst/>
            <a:cxnLst/>
            <a:rect l="l" t="t" r="r" b="b"/>
            <a:pathLst>
              <a:path w="562962" h="662308">
                <a:moveTo>
                  <a:pt x="0" y="0"/>
                </a:moveTo>
                <a:lnTo>
                  <a:pt x="562961" y="0"/>
                </a:lnTo>
                <a:lnTo>
                  <a:pt x="562961" y="662308"/>
                </a:lnTo>
                <a:lnTo>
                  <a:pt x="0" y="6623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646115" y="6785632"/>
            <a:ext cx="562962" cy="662308"/>
          </a:xfrm>
          <a:custGeom>
            <a:avLst/>
            <a:gdLst/>
            <a:ahLst/>
            <a:cxnLst/>
            <a:rect l="l" t="t" r="r" b="b"/>
            <a:pathLst>
              <a:path w="562962" h="662308">
                <a:moveTo>
                  <a:pt x="0" y="0"/>
                </a:moveTo>
                <a:lnTo>
                  <a:pt x="562961" y="0"/>
                </a:lnTo>
                <a:lnTo>
                  <a:pt x="562961" y="662308"/>
                </a:lnTo>
                <a:lnTo>
                  <a:pt x="0" y="6623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348484" y="2353202"/>
            <a:ext cx="3358451" cy="401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25"/>
              </a:lnSpc>
            </a:pPr>
            <a:r>
              <a:rPr lang="en-US" sz="244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QUALITY ISSUE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48484" y="3802246"/>
            <a:ext cx="3820461" cy="407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25"/>
              </a:lnSpc>
            </a:pPr>
            <a:r>
              <a:rPr lang="en-US" sz="2446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HIGH VOLUME OF DATA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99162" y="5107978"/>
            <a:ext cx="3998810" cy="401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25"/>
              </a:lnSpc>
            </a:pPr>
            <a:r>
              <a:rPr lang="en-US" sz="2446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INCOMPLETE COLUMN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77511" y="6896975"/>
            <a:ext cx="3360758" cy="401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25"/>
              </a:lnSpc>
            </a:pPr>
            <a:r>
              <a:rPr lang="en-US" sz="244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LACK OF GUIDIANCE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376321" y="2343677"/>
            <a:ext cx="10127075" cy="1217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3"/>
              </a:lnSpc>
            </a:pPr>
            <a:r>
              <a:rPr lang="en-US" sz="231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DATA  QUALITY  WERE BAD, FORMAT WERE NOT ARRANGED PROPERLY, VALUE WERE </a:t>
            </a:r>
            <a:r>
              <a:rPr lang="en-US" sz="2317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INCONSISRENT AND MISSING,</a:t>
            </a:r>
            <a:r>
              <a:rPr lang="en-US" sz="231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COLUMNS WERE NOT CATEGORISED FOR ANALYSIS.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376321" y="3719032"/>
            <a:ext cx="10127075" cy="1217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3"/>
              </a:lnSpc>
            </a:pPr>
            <a:r>
              <a:rPr lang="en-US" sz="231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DATA CONSISTS OF </a:t>
            </a:r>
            <a:r>
              <a:rPr lang="en-US" sz="2317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128949 ROWS AND 22 COLUMNS</a:t>
            </a:r>
            <a:r>
              <a:rPr lang="en-US" sz="231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WHICH MAKES IT VERY LARGE DATASET.IT REQUIRES EFFECIENT TOOL AND HIGH PROCESSING POWER TO ANALYSE THAT.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376321" y="5095875"/>
            <a:ext cx="10127075" cy="1627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3"/>
              </a:lnSpc>
            </a:pPr>
            <a:r>
              <a:rPr lang="en-US" sz="231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DATA DID’NT HAVE KEY </a:t>
            </a:r>
            <a:r>
              <a:rPr lang="en-US" sz="2317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CUSTOMER’S DEMOGRAPHIC COLUMNS </a:t>
            </a:r>
            <a:r>
              <a:rPr lang="en-US" sz="231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SUCH AS WHO PURCHASE ORDER, THEIR NAME, AGE, GENDER, LOCATION, ANNUAL INCOME.THIS LIMIT OUR ABILITY TO ANALYZE BUYING BEHAVIOR OF CUSTOMERS.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376321" y="6887450"/>
            <a:ext cx="10127075" cy="1627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3"/>
              </a:lnSpc>
            </a:pPr>
            <a:r>
              <a:rPr lang="en-US" sz="231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DATA CLEANING PROCESS TOOKS</a:t>
            </a:r>
            <a:r>
              <a:rPr lang="en-US" sz="2317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LOTS OF TIME OF US</a:t>
            </a:r>
            <a:r>
              <a:rPr lang="en-US" sz="231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DUE TO LACK OF CLEAR GUIDIANCE FROM OUR CORDINATOR LEADS TO EXTENDED DATA-CLEANING EFFORTS AND LONGER ANALYSIS TURNAROUND TIME.</a:t>
            </a:r>
          </a:p>
        </p:txBody>
      </p:sp>
      <p:sp>
        <p:nvSpPr>
          <p:cNvPr id="19" name="Freeform 19"/>
          <p:cNvSpPr/>
          <p:nvPr/>
        </p:nvSpPr>
        <p:spPr>
          <a:xfrm>
            <a:off x="646115" y="3619248"/>
            <a:ext cx="562962" cy="662308"/>
          </a:xfrm>
          <a:custGeom>
            <a:avLst/>
            <a:gdLst/>
            <a:ahLst/>
            <a:cxnLst/>
            <a:rect l="l" t="t" r="r" b="b"/>
            <a:pathLst>
              <a:path w="562962" h="662308">
                <a:moveTo>
                  <a:pt x="0" y="0"/>
                </a:moveTo>
                <a:lnTo>
                  <a:pt x="562961" y="0"/>
                </a:lnTo>
                <a:lnTo>
                  <a:pt x="562961" y="662308"/>
                </a:lnTo>
                <a:lnTo>
                  <a:pt x="0" y="6623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646115" y="2241860"/>
            <a:ext cx="562962" cy="662308"/>
          </a:xfrm>
          <a:custGeom>
            <a:avLst/>
            <a:gdLst/>
            <a:ahLst/>
            <a:cxnLst/>
            <a:rect l="l" t="t" r="r" b="b"/>
            <a:pathLst>
              <a:path w="562962" h="662308">
                <a:moveTo>
                  <a:pt x="0" y="0"/>
                </a:moveTo>
                <a:lnTo>
                  <a:pt x="562961" y="0"/>
                </a:lnTo>
                <a:lnTo>
                  <a:pt x="562961" y="662308"/>
                </a:lnTo>
                <a:lnTo>
                  <a:pt x="0" y="6623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30274" y="8112404"/>
            <a:ext cx="2927050" cy="2903275"/>
            <a:chOff x="0" y="0"/>
            <a:chExt cx="773718" cy="7674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73718" cy="767433"/>
            </a:xfrm>
            <a:custGeom>
              <a:avLst/>
              <a:gdLst/>
              <a:ahLst/>
              <a:cxnLst/>
              <a:rect l="l" t="t" r="r" b="b"/>
              <a:pathLst>
                <a:path w="773718" h="767433">
                  <a:moveTo>
                    <a:pt x="386859" y="0"/>
                  </a:moveTo>
                  <a:lnTo>
                    <a:pt x="773718" y="383717"/>
                  </a:lnTo>
                  <a:lnTo>
                    <a:pt x="386859" y="767433"/>
                  </a:lnTo>
                  <a:lnTo>
                    <a:pt x="0" y="383717"/>
                  </a:lnTo>
                  <a:lnTo>
                    <a:pt x="386859" y="0"/>
                  </a:lnTo>
                  <a:close/>
                </a:path>
              </a:pathLst>
            </a:custGeom>
            <a:solidFill>
              <a:srgbClr val="D630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32983" y="84278"/>
              <a:ext cx="507752" cy="5512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43706" y="8422921"/>
            <a:ext cx="3744918" cy="3728158"/>
            <a:chOff x="0" y="0"/>
            <a:chExt cx="715203" cy="71200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15203" cy="712002"/>
            </a:xfrm>
            <a:custGeom>
              <a:avLst/>
              <a:gdLst/>
              <a:ahLst/>
              <a:cxnLst/>
              <a:rect l="l" t="t" r="r" b="b"/>
              <a:pathLst>
                <a:path w="715203" h="712002">
                  <a:moveTo>
                    <a:pt x="357601" y="0"/>
                  </a:moveTo>
                  <a:lnTo>
                    <a:pt x="715203" y="356001"/>
                  </a:lnTo>
                  <a:lnTo>
                    <a:pt x="357601" y="712002"/>
                  </a:lnTo>
                  <a:lnTo>
                    <a:pt x="0" y="356001"/>
                  </a:lnTo>
                  <a:lnTo>
                    <a:pt x="357601" y="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D630FF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22925" y="74750"/>
              <a:ext cx="469352" cy="5148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89684" y="500970"/>
            <a:ext cx="17508632" cy="1226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7200" b="1">
                <a:solidFill>
                  <a:srgbClr val="000000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KEY OPERATIONAL </a:t>
            </a:r>
            <a:r>
              <a:rPr lang="en-US" sz="7200" b="1">
                <a:solidFill>
                  <a:srgbClr val="C521ED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CHALLENGES </a:t>
            </a:r>
          </a:p>
        </p:txBody>
      </p:sp>
      <p:sp>
        <p:nvSpPr>
          <p:cNvPr id="9" name="Freeform 9"/>
          <p:cNvSpPr/>
          <p:nvPr/>
        </p:nvSpPr>
        <p:spPr>
          <a:xfrm>
            <a:off x="646115" y="3435503"/>
            <a:ext cx="562962" cy="662308"/>
          </a:xfrm>
          <a:custGeom>
            <a:avLst/>
            <a:gdLst/>
            <a:ahLst/>
            <a:cxnLst/>
            <a:rect l="l" t="t" r="r" b="b"/>
            <a:pathLst>
              <a:path w="562962" h="662308">
                <a:moveTo>
                  <a:pt x="0" y="0"/>
                </a:moveTo>
                <a:lnTo>
                  <a:pt x="562961" y="0"/>
                </a:lnTo>
                <a:lnTo>
                  <a:pt x="562961" y="662308"/>
                </a:lnTo>
                <a:lnTo>
                  <a:pt x="0" y="6623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646115" y="4564176"/>
            <a:ext cx="562962" cy="662308"/>
          </a:xfrm>
          <a:custGeom>
            <a:avLst/>
            <a:gdLst/>
            <a:ahLst/>
            <a:cxnLst/>
            <a:rect l="l" t="t" r="r" b="b"/>
            <a:pathLst>
              <a:path w="562962" h="662308">
                <a:moveTo>
                  <a:pt x="0" y="0"/>
                </a:moveTo>
                <a:lnTo>
                  <a:pt x="562961" y="0"/>
                </a:lnTo>
                <a:lnTo>
                  <a:pt x="562961" y="662308"/>
                </a:lnTo>
                <a:lnTo>
                  <a:pt x="0" y="6623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646115" y="5672236"/>
            <a:ext cx="562962" cy="662308"/>
          </a:xfrm>
          <a:custGeom>
            <a:avLst/>
            <a:gdLst/>
            <a:ahLst/>
            <a:cxnLst/>
            <a:rect l="l" t="t" r="r" b="b"/>
            <a:pathLst>
              <a:path w="562962" h="662308">
                <a:moveTo>
                  <a:pt x="0" y="0"/>
                </a:moveTo>
                <a:lnTo>
                  <a:pt x="562961" y="0"/>
                </a:lnTo>
                <a:lnTo>
                  <a:pt x="562961" y="662308"/>
                </a:lnTo>
                <a:lnTo>
                  <a:pt x="0" y="6623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46115" y="2391302"/>
            <a:ext cx="562962" cy="662308"/>
          </a:xfrm>
          <a:custGeom>
            <a:avLst/>
            <a:gdLst/>
            <a:ahLst/>
            <a:cxnLst/>
            <a:rect l="l" t="t" r="r" b="b"/>
            <a:pathLst>
              <a:path w="562962" h="662308">
                <a:moveTo>
                  <a:pt x="0" y="0"/>
                </a:moveTo>
                <a:lnTo>
                  <a:pt x="562961" y="0"/>
                </a:lnTo>
                <a:lnTo>
                  <a:pt x="562961" y="662308"/>
                </a:lnTo>
                <a:lnTo>
                  <a:pt x="0" y="6623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555519" y="2393844"/>
            <a:ext cx="6029623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spc="299">
                <a:solidFill>
                  <a:srgbClr val="000000"/>
                </a:solidFill>
                <a:latin typeface="Barabara"/>
                <a:ea typeface="Barabara"/>
                <a:cs typeface="Barabara"/>
                <a:sym typeface="Barabara"/>
              </a:rPr>
              <a:t>DECLINING SALES TREND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55519" y="3438044"/>
            <a:ext cx="9645881" cy="4642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spc="299" dirty="0">
                <a:solidFill>
                  <a:srgbClr val="000000"/>
                </a:solidFill>
                <a:latin typeface="Barabara"/>
                <a:ea typeface="Barabara"/>
                <a:cs typeface="Barabara"/>
                <a:sym typeface="Barabara"/>
              </a:rPr>
              <a:t>ABNORMAL DISTRIBUTION OF PRODUCT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55518" y="4519711"/>
            <a:ext cx="7055081" cy="4642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spc="299" dirty="0">
                <a:solidFill>
                  <a:srgbClr val="000000"/>
                </a:solidFill>
                <a:latin typeface="Barabara"/>
                <a:ea typeface="Barabara"/>
                <a:cs typeface="Barabara"/>
                <a:sym typeface="Barabara"/>
              </a:rPr>
              <a:t>POOR ORDER FULLFILLMENT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55519" y="5567461"/>
            <a:ext cx="9017496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spc="299">
                <a:solidFill>
                  <a:srgbClr val="000000"/>
                </a:solidFill>
                <a:latin typeface="Barabara"/>
                <a:ea typeface="Barabara"/>
                <a:cs typeface="Barabara"/>
                <a:sym typeface="Barabara"/>
              </a:rPr>
              <a:t>LOWER SALES IN NORTH SIDE STATES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91800" y="6615212"/>
            <a:ext cx="13192713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spc="299">
                <a:solidFill>
                  <a:srgbClr val="000000"/>
                </a:solidFill>
                <a:latin typeface="Barabara"/>
                <a:ea typeface="Barabara"/>
                <a:cs typeface="Barabara"/>
                <a:sym typeface="Barabara"/>
              </a:rPr>
              <a:t>UNEXPECTED DEMAND FROM TIER-TWO METRO CITIES</a:t>
            </a:r>
          </a:p>
          <a:p>
            <a:pPr algn="ctr">
              <a:lnSpc>
                <a:spcPts val="4199"/>
              </a:lnSpc>
              <a:spcBef>
                <a:spcPct val="0"/>
              </a:spcBef>
            </a:pPr>
            <a:endParaRPr lang="en-US" sz="2999" spc="299">
              <a:solidFill>
                <a:srgbClr val="000000"/>
              </a:solidFill>
              <a:latin typeface="Barabara"/>
              <a:ea typeface="Barabara"/>
              <a:cs typeface="Barabara"/>
              <a:sym typeface="Barabara"/>
            </a:endParaRPr>
          </a:p>
        </p:txBody>
      </p:sp>
      <p:sp>
        <p:nvSpPr>
          <p:cNvPr id="18" name="Freeform 18"/>
          <p:cNvSpPr/>
          <p:nvPr/>
        </p:nvSpPr>
        <p:spPr>
          <a:xfrm>
            <a:off x="646115" y="6715544"/>
            <a:ext cx="562962" cy="662308"/>
          </a:xfrm>
          <a:custGeom>
            <a:avLst/>
            <a:gdLst/>
            <a:ahLst/>
            <a:cxnLst/>
            <a:rect l="l" t="t" r="r" b="b"/>
            <a:pathLst>
              <a:path w="562962" h="662308">
                <a:moveTo>
                  <a:pt x="0" y="0"/>
                </a:moveTo>
                <a:lnTo>
                  <a:pt x="562961" y="0"/>
                </a:lnTo>
                <a:lnTo>
                  <a:pt x="562961" y="662308"/>
                </a:lnTo>
                <a:lnTo>
                  <a:pt x="0" y="6623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75837" y="1450868"/>
            <a:ext cx="671907" cy="790478"/>
          </a:xfrm>
          <a:custGeom>
            <a:avLst/>
            <a:gdLst/>
            <a:ahLst/>
            <a:cxnLst/>
            <a:rect l="l" t="t" r="r" b="b"/>
            <a:pathLst>
              <a:path w="671907" h="790478">
                <a:moveTo>
                  <a:pt x="0" y="0"/>
                </a:moveTo>
                <a:lnTo>
                  <a:pt x="671906" y="0"/>
                </a:lnTo>
                <a:lnTo>
                  <a:pt x="671906" y="790479"/>
                </a:lnTo>
                <a:lnTo>
                  <a:pt x="0" y="790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775837" y="3101420"/>
            <a:ext cx="671907" cy="790478"/>
          </a:xfrm>
          <a:custGeom>
            <a:avLst/>
            <a:gdLst/>
            <a:ahLst/>
            <a:cxnLst/>
            <a:rect l="l" t="t" r="r" b="b"/>
            <a:pathLst>
              <a:path w="671907" h="790478">
                <a:moveTo>
                  <a:pt x="0" y="0"/>
                </a:moveTo>
                <a:lnTo>
                  <a:pt x="671906" y="0"/>
                </a:lnTo>
                <a:lnTo>
                  <a:pt x="671906" y="790478"/>
                </a:lnTo>
                <a:lnTo>
                  <a:pt x="0" y="7904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775837" y="4863830"/>
            <a:ext cx="671907" cy="790478"/>
          </a:xfrm>
          <a:custGeom>
            <a:avLst/>
            <a:gdLst/>
            <a:ahLst/>
            <a:cxnLst/>
            <a:rect l="l" t="t" r="r" b="b"/>
            <a:pathLst>
              <a:path w="671907" h="790478">
                <a:moveTo>
                  <a:pt x="0" y="0"/>
                </a:moveTo>
                <a:lnTo>
                  <a:pt x="671906" y="0"/>
                </a:lnTo>
                <a:lnTo>
                  <a:pt x="671906" y="790478"/>
                </a:lnTo>
                <a:lnTo>
                  <a:pt x="0" y="7904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61344" y="449647"/>
            <a:ext cx="9666512" cy="2154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8283"/>
              </a:lnSpc>
            </a:pPr>
            <a:r>
              <a:rPr lang="en-US" sz="8283" b="1" spc="662">
                <a:solidFill>
                  <a:srgbClr val="000000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SALES </a:t>
            </a:r>
            <a:r>
              <a:rPr lang="en-US" sz="8283" b="1" spc="662">
                <a:solidFill>
                  <a:srgbClr val="D630FF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GROWTH TREND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771047" y="1312106"/>
            <a:ext cx="6296799" cy="1322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5"/>
              </a:lnSpc>
              <a:spcBef>
                <a:spcPct val="0"/>
              </a:spcBef>
            </a:pPr>
            <a:r>
              <a:rPr lang="en-US" sz="2504" spc="250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APRIL RECORDED THE HIGHEST SALES, FOLLOWED BY MAY AND THEN JUNE.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741132" y="4806680"/>
            <a:ext cx="6356629" cy="224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5"/>
              </a:lnSpc>
            </a:pPr>
            <a:r>
              <a:rPr lang="en-US" sz="2504" spc="250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29 JULY MARKED THE LOWEST SALES DAY IN THE OBSERVED PERIOD.</a:t>
            </a:r>
          </a:p>
          <a:p>
            <a:pPr algn="ctr">
              <a:lnSpc>
                <a:spcPts val="3839"/>
              </a:lnSpc>
            </a:pPr>
            <a:endParaRPr lang="en-US" sz="2504" spc="250">
              <a:solidFill>
                <a:srgbClr val="000000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algn="ctr">
              <a:lnSpc>
                <a:spcPts val="3505"/>
              </a:lnSpc>
              <a:spcBef>
                <a:spcPct val="0"/>
              </a:spcBef>
            </a:pPr>
            <a:endParaRPr lang="en-US" sz="2504" spc="250">
              <a:solidFill>
                <a:srgbClr val="000000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1693323" y="3041344"/>
            <a:ext cx="6374523" cy="1683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92"/>
              </a:lnSpc>
            </a:pPr>
            <a:r>
              <a:rPr lang="en-US" sz="2423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THE FIRST FOUR DAYS OF MAY (1ST–4TH) RANKED AMONG THE TOP FIVE HIGHEST SALES DAYS.</a:t>
            </a:r>
          </a:p>
          <a:p>
            <a:pPr algn="just">
              <a:lnSpc>
                <a:spcPts val="3225"/>
              </a:lnSpc>
              <a:spcBef>
                <a:spcPct val="0"/>
              </a:spcBef>
            </a:pPr>
            <a:endParaRPr lang="en-US" sz="2423">
              <a:solidFill>
                <a:srgbClr val="000000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39318" y="2398491"/>
            <a:ext cx="10741228" cy="813578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5454" y="-110622"/>
            <a:ext cx="13671869" cy="8693145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152692" y="4214280"/>
            <a:ext cx="671907" cy="790478"/>
          </a:xfrm>
          <a:custGeom>
            <a:avLst/>
            <a:gdLst/>
            <a:ahLst/>
            <a:cxnLst/>
            <a:rect l="l" t="t" r="r" b="b"/>
            <a:pathLst>
              <a:path w="671907" h="790478">
                <a:moveTo>
                  <a:pt x="0" y="0"/>
                </a:moveTo>
                <a:lnTo>
                  <a:pt x="671907" y="0"/>
                </a:lnTo>
                <a:lnTo>
                  <a:pt x="671907" y="790479"/>
                </a:lnTo>
                <a:lnTo>
                  <a:pt x="0" y="7904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2692" y="6371215"/>
            <a:ext cx="671907" cy="790478"/>
          </a:xfrm>
          <a:custGeom>
            <a:avLst/>
            <a:gdLst/>
            <a:ahLst/>
            <a:cxnLst/>
            <a:rect l="l" t="t" r="r" b="b"/>
            <a:pathLst>
              <a:path w="671907" h="790478">
                <a:moveTo>
                  <a:pt x="0" y="0"/>
                </a:moveTo>
                <a:lnTo>
                  <a:pt x="671907" y="0"/>
                </a:lnTo>
                <a:lnTo>
                  <a:pt x="671907" y="790479"/>
                </a:lnTo>
                <a:lnTo>
                  <a:pt x="0" y="7904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52692" y="622253"/>
            <a:ext cx="6163279" cy="1079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8000"/>
              </a:lnSpc>
            </a:pPr>
            <a:r>
              <a:rPr lang="en-US" sz="8000" b="1" spc="640">
                <a:solidFill>
                  <a:srgbClr val="141415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PRODUCT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2692" y="1777423"/>
            <a:ext cx="6163279" cy="2089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8000"/>
              </a:lnSpc>
            </a:pPr>
            <a:r>
              <a:rPr lang="en-US" sz="8000" b="1" spc="640">
                <a:solidFill>
                  <a:srgbClr val="D630FF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PERFORMANCE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4038352"/>
            <a:ext cx="6191098" cy="2332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6"/>
              </a:lnSpc>
            </a:pPr>
            <a:r>
              <a:rPr lang="en-US" sz="2654" spc="265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SETS AND KURTAS EMERGED AS THE TOP-SELLING CATEGORIES.</a:t>
            </a:r>
          </a:p>
          <a:p>
            <a:pPr algn="ctr">
              <a:lnSpc>
                <a:spcPts val="3716"/>
              </a:lnSpc>
            </a:pPr>
            <a:endParaRPr lang="en-US" sz="2654" spc="265">
              <a:solidFill>
                <a:srgbClr val="000000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algn="ctr">
              <a:lnSpc>
                <a:spcPts val="3716"/>
              </a:lnSpc>
              <a:spcBef>
                <a:spcPct val="0"/>
              </a:spcBef>
            </a:pPr>
            <a:endParaRPr lang="en-US" sz="2654" spc="265">
              <a:solidFill>
                <a:srgbClr val="000000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28700" y="5947068"/>
            <a:ext cx="6357235" cy="1399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9"/>
              </a:lnSpc>
              <a:spcBef>
                <a:spcPct val="0"/>
              </a:spcBef>
            </a:pPr>
            <a:r>
              <a:rPr lang="en-US" sz="2649" spc="264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SAREES, BOTTOMS, DUPATTAS, AND TOPS RECORDED THE LOWEST SALES PERFORMANCE.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87953" y="-887953"/>
            <a:ext cx="10655431" cy="7869775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2537" y="-672433"/>
            <a:ext cx="8069196" cy="7629520"/>
          </a:xfrm>
          <a:prstGeom prst="rect">
            <a:avLst/>
          </a:prstGeom>
        </p:spPr>
      </p:pic>
      <p:sp>
        <p:nvSpPr>
          <p:cNvPr id="4" name="Freeform 4"/>
          <p:cNvSpPr/>
          <p:nvPr/>
        </p:nvSpPr>
        <p:spPr>
          <a:xfrm>
            <a:off x="317452" y="6678957"/>
            <a:ext cx="505603" cy="594827"/>
          </a:xfrm>
          <a:custGeom>
            <a:avLst/>
            <a:gdLst/>
            <a:ahLst/>
            <a:cxnLst/>
            <a:rect l="l" t="t" r="r" b="b"/>
            <a:pathLst>
              <a:path w="505603" h="594827">
                <a:moveTo>
                  <a:pt x="0" y="0"/>
                </a:moveTo>
                <a:lnTo>
                  <a:pt x="505603" y="0"/>
                </a:lnTo>
                <a:lnTo>
                  <a:pt x="505603" y="594827"/>
                </a:lnTo>
                <a:lnTo>
                  <a:pt x="0" y="5948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6723640"/>
            <a:ext cx="11556504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 spc="260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M SIZE RECORDED THE HIGHEST SALES AMONG ALL SIZES.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7500175"/>
            <a:ext cx="13841893" cy="4570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 spc="260" dirty="0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M, L, AND XL TOGETHER CONTRIBUTED NEARLY 50% OF TOTAL SALES.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04889" y="8313928"/>
            <a:ext cx="12687300" cy="4570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83"/>
              </a:lnSpc>
              <a:spcBef>
                <a:spcPct val="0"/>
              </a:spcBef>
            </a:pPr>
            <a:r>
              <a:rPr lang="en-US" sz="2630" spc="263" dirty="0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XXL, S, AND 3XL SHOWED MODERATE SALES PERFORMANCE.</a:t>
            </a:r>
          </a:p>
        </p:txBody>
      </p:sp>
      <p:sp>
        <p:nvSpPr>
          <p:cNvPr id="8" name="Freeform 8"/>
          <p:cNvSpPr/>
          <p:nvPr/>
        </p:nvSpPr>
        <p:spPr>
          <a:xfrm>
            <a:off x="317452" y="7431287"/>
            <a:ext cx="505603" cy="594827"/>
          </a:xfrm>
          <a:custGeom>
            <a:avLst/>
            <a:gdLst/>
            <a:ahLst/>
            <a:cxnLst/>
            <a:rect l="l" t="t" r="r" b="b"/>
            <a:pathLst>
              <a:path w="505603" h="594827">
                <a:moveTo>
                  <a:pt x="0" y="0"/>
                </a:moveTo>
                <a:lnTo>
                  <a:pt x="505603" y="0"/>
                </a:lnTo>
                <a:lnTo>
                  <a:pt x="505603" y="594828"/>
                </a:lnTo>
                <a:lnTo>
                  <a:pt x="0" y="5948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317452" y="8273372"/>
            <a:ext cx="505603" cy="594827"/>
          </a:xfrm>
          <a:custGeom>
            <a:avLst/>
            <a:gdLst/>
            <a:ahLst/>
            <a:cxnLst/>
            <a:rect l="l" t="t" r="r" b="b"/>
            <a:pathLst>
              <a:path w="505603" h="594827">
                <a:moveTo>
                  <a:pt x="0" y="0"/>
                </a:moveTo>
                <a:lnTo>
                  <a:pt x="505603" y="0"/>
                </a:lnTo>
                <a:lnTo>
                  <a:pt x="505603" y="594828"/>
                </a:lnTo>
                <a:lnTo>
                  <a:pt x="0" y="5948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317452" y="9159442"/>
            <a:ext cx="505603" cy="594827"/>
          </a:xfrm>
          <a:custGeom>
            <a:avLst/>
            <a:gdLst/>
            <a:ahLst/>
            <a:cxnLst/>
            <a:rect l="l" t="t" r="r" b="b"/>
            <a:pathLst>
              <a:path w="505603" h="594827">
                <a:moveTo>
                  <a:pt x="0" y="0"/>
                </a:moveTo>
                <a:lnTo>
                  <a:pt x="505603" y="0"/>
                </a:lnTo>
                <a:lnTo>
                  <a:pt x="505603" y="594827"/>
                </a:lnTo>
                <a:lnTo>
                  <a:pt x="0" y="5948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000991" y="9171936"/>
            <a:ext cx="12382500" cy="4564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59"/>
              </a:lnSpc>
              <a:spcBef>
                <a:spcPct val="0"/>
              </a:spcBef>
            </a:pPr>
            <a:r>
              <a:rPr lang="en-US" sz="2613" spc="261" dirty="0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5XL, 6L, AND 4L SIZES REGISTERED THE LOWEST SALES.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358249"/>
            <a:ext cx="6021871" cy="3151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290"/>
              </a:lnSpc>
            </a:pPr>
            <a:r>
              <a:rPr lang="en-US" sz="7086" b="1" spc="588">
                <a:solidFill>
                  <a:srgbClr val="000000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STATE </a:t>
            </a:r>
            <a:r>
              <a:rPr lang="en-US" sz="7086" b="1" spc="588">
                <a:solidFill>
                  <a:srgbClr val="D630FF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PERFORMANCE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9191" y="1126586"/>
            <a:ext cx="17813246" cy="10644851"/>
          </a:xfrm>
          <a:prstGeom prst="rect">
            <a:avLst/>
          </a:prstGeom>
        </p:spPr>
      </p:pic>
      <p:sp>
        <p:nvSpPr>
          <p:cNvPr id="4" name="Freeform 4"/>
          <p:cNvSpPr/>
          <p:nvPr/>
        </p:nvSpPr>
        <p:spPr>
          <a:xfrm>
            <a:off x="8024977" y="633461"/>
            <a:ext cx="754757" cy="887949"/>
          </a:xfrm>
          <a:custGeom>
            <a:avLst/>
            <a:gdLst/>
            <a:ahLst/>
            <a:cxnLst/>
            <a:rect l="l" t="t" r="r" b="b"/>
            <a:pathLst>
              <a:path w="754757" h="887949">
                <a:moveTo>
                  <a:pt x="0" y="0"/>
                </a:moveTo>
                <a:lnTo>
                  <a:pt x="754757" y="0"/>
                </a:lnTo>
                <a:lnTo>
                  <a:pt x="754757" y="887949"/>
                </a:lnTo>
                <a:lnTo>
                  <a:pt x="0" y="8879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024977" y="2602793"/>
            <a:ext cx="754757" cy="887949"/>
          </a:xfrm>
          <a:custGeom>
            <a:avLst/>
            <a:gdLst/>
            <a:ahLst/>
            <a:cxnLst/>
            <a:rect l="l" t="t" r="r" b="b"/>
            <a:pathLst>
              <a:path w="754757" h="887949">
                <a:moveTo>
                  <a:pt x="0" y="0"/>
                </a:moveTo>
                <a:lnTo>
                  <a:pt x="754757" y="0"/>
                </a:lnTo>
                <a:lnTo>
                  <a:pt x="754757" y="887949"/>
                </a:lnTo>
                <a:lnTo>
                  <a:pt x="0" y="8879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8948322" y="576311"/>
            <a:ext cx="6858344" cy="1417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700" spc="270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MAHARASHTRA RECORDED THE HIGHEST SALES AMONG ALL INDIAN STATES.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948322" y="2545643"/>
            <a:ext cx="8310978" cy="1870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1"/>
              </a:lnSpc>
              <a:spcBef>
                <a:spcPct val="0"/>
              </a:spcBef>
            </a:pPr>
            <a:r>
              <a:rPr lang="en-US" sz="2693" spc="269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AMONG THE TOP FIVE STATES, FOUR WERE FROM SOUTH INDIA, HIGHLIGHTING STRONG REGIONAL DEMAND.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7193" y="1066975"/>
            <a:ext cx="17695426" cy="10476609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0" y="290523"/>
            <a:ext cx="6216231" cy="2995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7000" b="1" spc="700">
                <a:solidFill>
                  <a:srgbClr val="000000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REGIONL </a:t>
            </a:r>
            <a:r>
              <a:rPr lang="en-US" sz="7000" b="1" spc="700">
                <a:solidFill>
                  <a:srgbClr val="D630FF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PERFORMANCE</a:t>
            </a:r>
          </a:p>
        </p:txBody>
      </p:sp>
      <p:sp>
        <p:nvSpPr>
          <p:cNvPr id="4" name="Freeform 4"/>
          <p:cNvSpPr/>
          <p:nvPr/>
        </p:nvSpPr>
        <p:spPr>
          <a:xfrm>
            <a:off x="8842275" y="782384"/>
            <a:ext cx="603449" cy="709940"/>
          </a:xfrm>
          <a:custGeom>
            <a:avLst/>
            <a:gdLst/>
            <a:ahLst/>
            <a:cxnLst/>
            <a:rect l="l" t="t" r="r" b="b"/>
            <a:pathLst>
              <a:path w="603449" h="709940">
                <a:moveTo>
                  <a:pt x="0" y="0"/>
                </a:moveTo>
                <a:lnTo>
                  <a:pt x="603450" y="0"/>
                </a:lnTo>
                <a:lnTo>
                  <a:pt x="603450" y="709941"/>
                </a:lnTo>
                <a:lnTo>
                  <a:pt x="0" y="7099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842275" y="1984911"/>
            <a:ext cx="603449" cy="709940"/>
          </a:xfrm>
          <a:custGeom>
            <a:avLst/>
            <a:gdLst/>
            <a:ahLst/>
            <a:cxnLst/>
            <a:rect l="l" t="t" r="r" b="b"/>
            <a:pathLst>
              <a:path w="603449" h="709940">
                <a:moveTo>
                  <a:pt x="0" y="0"/>
                </a:moveTo>
                <a:lnTo>
                  <a:pt x="603450" y="0"/>
                </a:lnTo>
                <a:lnTo>
                  <a:pt x="603450" y="709940"/>
                </a:lnTo>
                <a:lnTo>
                  <a:pt x="0" y="7099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842275" y="3187437"/>
            <a:ext cx="603449" cy="709940"/>
          </a:xfrm>
          <a:custGeom>
            <a:avLst/>
            <a:gdLst/>
            <a:ahLst/>
            <a:cxnLst/>
            <a:rect l="l" t="t" r="r" b="b"/>
            <a:pathLst>
              <a:path w="603449" h="709940">
                <a:moveTo>
                  <a:pt x="0" y="0"/>
                </a:moveTo>
                <a:lnTo>
                  <a:pt x="603450" y="0"/>
                </a:lnTo>
                <a:lnTo>
                  <a:pt x="603450" y="709940"/>
                </a:lnTo>
                <a:lnTo>
                  <a:pt x="0" y="7099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9633361" y="617220"/>
            <a:ext cx="9404173" cy="1722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46"/>
              </a:lnSpc>
            </a:pPr>
            <a:r>
              <a:rPr lang="en-US" sz="2390" spc="239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BENGALURU RECORDED THE HIGHEST SALES AMONG ALL CITIES.</a:t>
            </a:r>
          </a:p>
          <a:p>
            <a:pPr algn="l">
              <a:lnSpc>
                <a:spcPts val="3498"/>
              </a:lnSpc>
            </a:pPr>
            <a:endParaRPr lang="en-US" sz="2390" spc="239">
              <a:solidFill>
                <a:srgbClr val="000000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algn="l">
              <a:lnSpc>
                <a:spcPts val="3498"/>
              </a:lnSpc>
              <a:spcBef>
                <a:spcPct val="0"/>
              </a:spcBef>
            </a:pPr>
            <a:endParaRPr lang="en-US" sz="2390" spc="239">
              <a:solidFill>
                <a:srgbClr val="000000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633361" y="1847832"/>
            <a:ext cx="8286383" cy="854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46"/>
              </a:lnSpc>
              <a:spcBef>
                <a:spcPct val="0"/>
              </a:spcBef>
            </a:pPr>
            <a:r>
              <a:rPr lang="en-US" sz="2390" spc="239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MAJORITY OF SALES CAME FROM TIER-1 METRO CITIES.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633361" y="3174773"/>
            <a:ext cx="7964868" cy="1200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94"/>
              </a:lnSpc>
              <a:spcBef>
                <a:spcPct val="0"/>
              </a:spcBef>
            </a:pPr>
            <a:r>
              <a:rPr lang="en-US" sz="2281" spc="228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THE TOP 10 CITIES WERE MAJOR INDUSTRIAL AND FINANCIAL HUBS, ATTRACTING PEOPLE FOR JOBS AND EDUCATION.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265857"/>
            <a:ext cx="8723070" cy="210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59"/>
              </a:lnSpc>
            </a:pPr>
            <a:r>
              <a:rPr lang="en-US" sz="6999" b="1" spc="699">
                <a:solidFill>
                  <a:srgbClr val="000000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LOGISTIC </a:t>
            </a:r>
            <a:r>
              <a:rPr lang="en-US" sz="6999" b="1" spc="699">
                <a:solidFill>
                  <a:srgbClr val="D630FF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PERFORMANCE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1836" y="1367267"/>
            <a:ext cx="7991570" cy="6364793"/>
          </a:xfrm>
          <a:prstGeom prst="rect">
            <a:avLst/>
          </a:prstGeom>
        </p:spPr>
      </p:pic>
      <p:graphicFrame>
        <p:nvGraphicFramePr>
          <p:cNvPr id="4" name="Object 4"/>
          <p:cNvGraphicFramePr/>
          <p:nvPr/>
        </p:nvGraphicFramePr>
        <p:xfrm>
          <a:off x="0" y="2608396"/>
          <a:ext cx="7029450" cy="817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8661400" imgH="9804400" progId="Excel.Sheet.12">
                  <p:embed/>
                </p:oleObj>
              </mc:Choice>
              <mc:Fallback>
                <p:oleObj name="Worksheet" r:id="rId3" imgW="8661400" imgH="98044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0" y="2608396"/>
                        <a:ext cx="7029450" cy="8172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reeform 5"/>
          <p:cNvSpPr/>
          <p:nvPr/>
        </p:nvSpPr>
        <p:spPr>
          <a:xfrm>
            <a:off x="362746" y="7420461"/>
            <a:ext cx="446845" cy="525700"/>
          </a:xfrm>
          <a:custGeom>
            <a:avLst/>
            <a:gdLst/>
            <a:ahLst/>
            <a:cxnLst/>
            <a:rect l="l" t="t" r="r" b="b"/>
            <a:pathLst>
              <a:path w="446845" h="525700">
                <a:moveTo>
                  <a:pt x="0" y="0"/>
                </a:moveTo>
                <a:lnTo>
                  <a:pt x="446845" y="0"/>
                </a:lnTo>
                <a:lnTo>
                  <a:pt x="446845" y="525699"/>
                </a:lnTo>
                <a:lnTo>
                  <a:pt x="0" y="52569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7434939"/>
            <a:ext cx="14256544" cy="1391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2500" spc="250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62% OF ORDERS ARE PENDING, 16% CANCELLED, AND THE REST DELIVERED.</a:t>
            </a:r>
          </a:p>
          <a:p>
            <a:pPr algn="just">
              <a:lnSpc>
                <a:spcPts val="3779"/>
              </a:lnSpc>
            </a:pPr>
            <a:endParaRPr lang="en-US" sz="2500" spc="250">
              <a:solidFill>
                <a:srgbClr val="000000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algn="just">
              <a:lnSpc>
                <a:spcPts val="3779"/>
              </a:lnSpc>
              <a:spcBef>
                <a:spcPct val="0"/>
              </a:spcBef>
            </a:pPr>
            <a:endParaRPr lang="en-US" sz="2500" spc="250">
              <a:solidFill>
                <a:srgbClr val="000000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8700" y="8208289"/>
            <a:ext cx="14797035" cy="2332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 spc="260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APRIL ORDERS WERE SUCCESSFULLY DELIVERED, WHILE MAY AND JUNE ORDERS REMAIN PENDING.</a:t>
            </a:r>
          </a:p>
          <a:p>
            <a:pPr algn="just">
              <a:lnSpc>
                <a:spcPts val="3779"/>
              </a:lnSpc>
            </a:pPr>
            <a:endParaRPr lang="en-US" sz="2600" spc="260">
              <a:solidFill>
                <a:srgbClr val="000000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algn="just">
              <a:lnSpc>
                <a:spcPts val="3779"/>
              </a:lnSpc>
            </a:pPr>
            <a:endParaRPr lang="en-US" sz="2600" spc="260">
              <a:solidFill>
                <a:srgbClr val="000000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algn="just">
              <a:lnSpc>
                <a:spcPts val="3779"/>
              </a:lnSpc>
              <a:spcBef>
                <a:spcPct val="0"/>
              </a:spcBef>
            </a:pPr>
            <a:endParaRPr lang="en-US" sz="2600" spc="260">
              <a:solidFill>
                <a:srgbClr val="000000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362746" y="8300525"/>
            <a:ext cx="446845" cy="525700"/>
          </a:xfrm>
          <a:custGeom>
            <a:avLst/>
            <a:gdLst/>
            <a:ahLst/>
            <a:cxnLst/>
            <a:rect l="l" t="t" r="r" b="b"/>
            <a:pathLst>
              <a:path w="446845" h="525700">
                <a:moveTo>
                  <a:pt x="0" y="0"/>
                </a:moveTo>
                <a:lnTo>
                  <a:pt x="446845" y="0"/>
                </a:lnTo>
                <a:lnTo>
                  <a:pt x="446845" y="525699"/>
                </a:lnTo>
                <a:lnTo>
                  <a:pt x="0" y="52569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69347" y="0"/>
            <a:ext cx="1098047" cy="10287000"/>
          </a:xfrm>
          <a:prstGeom prst="rect">
            <a:avLst/>
          </a:prstGeom>
          <a:solidFill>
            <a:srgbClr val="C521ED"/>
          </a:solidFill>
        </p:spPr>
      </p:sp>
      <p:grpSp>
        <p:nvGrpSpPr>
          <p:cNvPr id="3" name="Group 3"/>
          <p:cNvGrpSpPr/>
          <p:nvPr/>
        </p:nvGrpSpPr>
        <p:grpSpPr>
          <a:xfrm>
            <a:off x="13818012" y="1851312"/>
            <a:ext cx="3289850" cy="2764866"/>
            <a:chOff x="0" y="0"/>
            <a:chExt cx="4386467" cy="3686488"/>
          </a:xfrm>
        </p:grpSpPr>
        <p:sp>
          <p:nvSpPr>
            <p:cNvPr id="4" name="TextBox 4"/>
            <p:cNvSpPr txBox="1"/>
            <p:nvPr/>
          </p:nvSpPr>
          <p:spPr>
            <a:xfrm>
              <a:off x="0" y="-28575"/>
              <a:ext cx="4386467" cy="13174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3946"/>
                </a:lnSpc>
              </a:pPr>
              <a:r>
                <a:rPr lang="en-US" sz="3059" b="1" spc="152">
                  <a:solidFill>
                    <a:srgbClr val="191919"/>
                  </a:solidFill>
                  <a:latin typeface="Aileron Ultra-Bold"/>
                  <a:ea typeface="Aileron Ultra-Bold"/>
                  <a:cs typeface="Aileron Ultra-Bold"/>
                  <a:sym typeface="Aileron Ultra-Bold"/>
                </a:rPr>
                <a:t>EXPAND</a:t>
              </a:r>
            </a:p>
            <a:p>
              <a:pPr algn="r">
                <a:lnSpc>
                  <a:spcPts val="3946"/>
                </a:lnSpc>
              </a:pPr>
              <a:r>
                <a:rPr lang="en-US" sz="3059" b="1" spc="152">
                  <a:solidFill>
                    <a:srgbClr val="191919"/>
                  </a:solidFill>
                  <a:latin typeface="Aileron Ultra-Bold"/>
                  <a:ea typeface="Aileron Ultra-Bold"/>
                  <a:cs typeface="Aileron Ultra-Bold"/>
                  <a:sym typeface="Aileron Ultra-Bold"/>
                </a:rPr>
                <a:t>MARKET SHARE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683145"/>
              <a:ext cx="4386467" cy="2003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3078"/>
                </a:lnSpc>
              </a:pPr>
              <a:r>
                <a:rPr lang="en-US" sz="2198" spc="65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Expand marketing and supply chain focus in  North India to maximize sales growth.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672636" y="6276830"/>
            <a:ext cx="3441288" cy="3966431"/>
            <a:chOff x="0" y="0"/>
            <a:chExt cx="4588385" cy="5288575"/>
          </a:xfrm>
        </p:grpSpPr>
        <p:sp>
          <p:nvSpPr>
            <p:cNvPr id="7" name="TextBox 7"/>
            <p:cNvSpPr txBox="1"/>
            <p:nvPr/>
          </p:nvSpPr>
          <p:spPr>
            <a:xfrm>
              <a:off x="0" y="-28575"/>
              <a:ext cx="4588385" cy="20753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4128"/>
                </a:lnSpc>
              </a:pPr>
              <a:r>
                <a:rPr lang="en-US" sz="3200" b="1" spc="160">
                  <a:solidFill>
                    <a:srgbClr val="191919"/>
                  </a:solidFill>
                  <a:latin typeface="Aileron Ultra-Bold"/>
                  <a:ea typeface="Aileron Ultra-Bold"/>
                  <a:cs typeface="Aileron Ultra-Bold"/>
                  <a:sym typeface="Aileron Ultra-Bold"/>
                </a:rPr>
                <a:t>IMPROVE ORDER SERVICES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479927"/>
              <a:ext cx="4588385" cy="28086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2816"/>
                </a:lnSpc>
              </a:pPr>
              <a:r>
                <a:rPr lang="en-US" sz="2200" spc="211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“Accelerate order fulfillment and resolve May–June backlog to reduce cancellations and improve customer trust.”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952124" y="6276830"/>
            <a:ext cx="3441288" cy="3290843"/>
            <a:chOff x="0" y="0"/>
            <a:chExt cx="4588385" cy="4387791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28575"/>
              <a:ext cx="4588385" cy="13768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4128"/>
                </a:lnSpc>
              </a:pPr>
              <a:r>
                <a:rPr lang="en-US" sz="3200" b="1" spc="160">
                  <a:solidFill>
                    <a:srgbClr val="191919"/>
                  </a:solidFill>
                  <a:latin typeface="Aileron Ultra-Bold"/>
                  <a:ea typeface="Aileron Ultra-Bold"/>
                  <a:cs typeface="Aileron Ultra-Bold"/>
                  <a:sym typeface="Aileron Ultra-Bold"/>
                </a:rPr>
                <a:t>TARGET TIER-1 METRO CITIES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743228"/>
              <a:ext cx="4588385" cy="26445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3500"/>
                </a:lnSpc>
              </a:pPr>
              <a:endParaRPr/>
            </a:p>
            <a:p>
              <a:pPr marL="0" lvl="0" indent="0" algn="just">
                <a:lnSpc>
                  <a:spcPts val="3080"/>
                </a:lnSpc>
              </a:pPr>
              <a:r>
                <a:rPr lang="en-US" sz="2200" spc="66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Focus on Tier-1 metros with targeted campaigns; expand gradually into Tier-2 cities.”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672636" y="1851312"/>
            <a:ext cx="3441288" cy="3292188"/>
            <a:chOff x="0" y="0"/>
            <a:chExt cx="4588385" cy="4389584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28575"/>
              <a:ext cx="4588385" cy="13768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4128"/>
                </a:lnSpc>
              </a:pPr>
              <a:r>
                <a:rPr lang="en-US" sz="3200" b="1" spc="160">
                  <a:solidFill>
                    <a:srgbClr val="191919"/>
                  </a:solidFill>
                  <a:latin typeface="Aileron Ultra-Bold"/>
                  <a:ea typeface="Aileron Ultra-Bold"/>
                  <a:cs typeface="Aileron Ultra-Bold"/>
                  <a:sym typeface="Aileron Ultra-Bold"/>
                </a:rPr>
                <a:t>PRODUCT MANAGEMENT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752852"/>
              <a:ext cx="4588385" cy="26367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3220"/>
                </a:lnSpc>
              </a:pPr>
              <a:r>
                <a:rPr lang="en-US" sz="2300" spc="69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Conduct a deep-dive analysis into the reasons for the low sales of "Saree," "Dupatta," and "Top" .</a:t>
              </a:r>
            </a:p>
          </p:txBody>
        </p:sp>
      </p:grpSp>
      <p:sp>
        <p:nvSpPr>
          <p:cNvPr id="15" name="Freeform 15"/>
          <p:cNvSpPr/>
          <p:nvPr/>
        </p:nvSpPr>
        <p:spPr>
          <a:xfrm>
            <a:off x="1693068" y="3145536"/>
            <a:ext cx="7315200" cy="3995928"/>
          </a:xfrm>
          <a:custGeom>
            <a:avLst/>
            <a:gdLst/>
            <a:ahLst/>
            <a:cxnLst/>
            <a:rect l="l" t="t" r="r" b="b"/>
            <a:pathLst>
              <a:path w="7315200" h="3995928">
                <a:moveTo>
                  <a:pt x="0" y="0"/>
                </a:moveTo>
                <a:lnTo>
                  <a:pt x="7315200" y="0"/>
                </a:lnTo>
                <a:lnTo>
                  <a:pt x="7315200" y="3995928"/>
                </a:lnTo>
                <a:lnTo>
                  <a:pt x="0" y="39959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862651" y="3814400"/>
            <a:ext cx="7145617" cy="2648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90"/>
              </a:lnSpc>
            </a:pPr>
            <a:r>
              <a:rPr lang="en-US" sz="8658" b="1" spc="519">
                <a:solidFill>
                  <a:srgbClr val="191919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RECOMENDATIONS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69347" y="0"/>
            <a:ext cx="1098047" cy="10287000"/>
          </a:xfrm>
          <a:prstGeom prst="rect">
            <a:avLst/>
          </a:prstGeom>
          <a:solidFill>
            <a:srgbClr val="C521ED"/>
          </a:solidFill>
        </p:spPr>
      </p:sp>
      <p:sp>
        <p:nvSpPr>
          <p:cNvPr id="3" name="TextBox 3"/>
          <p:cNvSpPr txBox="1"/>
          <p:nvPr/>
        </p:nvSpPr>
        <p:spPr>
          <a:xfrm>
            <a:off x="4828282" y="-171450"/>
            <a:ext cx="9192518" cy="15452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CONCLUSIONS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348097" y="2437795"/>
            <a:ext cx="13761690" cy="3395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80"/>
              </a:lnSpc>
            </a:pPr>
            <a:r>
              <a:rPr lang="en-US" sz="25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OUR ANALYSIS HIGHLIGHTS </a:t>
            </a:r>
            <a:r>
              <a:rPr lang="en-US" sz="2557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SIGHNIFICANT OPERATIONAL GAP</a:t>
            </a:r>
            <a:r>
              <a:rPr lang="en-US" sz="25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IN KEY BUSINESS AREA INCLUDING FINANCE, LOGISTICS AND PRODUCT. KEY FINDINGS SUCH AS A</a:t>
            </a:r>
            <a:r>
              <a:rPr lang="en-US" sz="2557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BNORMAL PRODUCT DISTRIBUTION, POOR ORDER STATUS, ONE-SIDED FOCUSES ON </a:t>
            </a:r>
            <a:r>
              <a:rPr lang="en-US" sz="25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REGION ARE THE CONTRIBUTING FACTORS TO DECLINE IN OVERALL SALES PERFORMANCE.</a:t>
            </a:r>
          </a:p>
          <a:p>
            <a:pPr algn="just">
              <a:lnSpc>
                <a:spcPts val="4327"/>
              </a:lnSpc>
            </a:pPr>
            <a:endParaRPr lang="en-US" sz="2557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4327"/>
              </a:lnSpc>
            </a:pPr>
            <a:endParaRPr lang="en-US" sz="2557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4327"/>
              </a:lnSpc>
            </a:pPr>
            <a:endParaRPr lang="en-US" sz="2557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348097" y="4606809"/>
            <a:ext cx="13761690" cy="878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80"/>
              </a:lnSpc>
            </a:pPr>
            <a:r>
              <a:rPr lang="en-US" sz="25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THESE FACTORS CREATING </a:t>
            </a:r>
            <a:r>
              <a:rPr lang="en-US" sz="2557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NEGATIVELY IMPACT</a:t>
            </a:r>
            <a:r>
              <a:rPr lang="en-US" sz="25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PRODUCT SALES, CUSTOMER SATISFACTION, REGIONAL PERFORMANCE AND OVERALL DEMAND OF PRODUCT.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348097" y="5962588"/>
            <a:ext cx="13761690" cy="1773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80"/>
              </a:lnSpc>
            </a:pPr>
            <a:r>
              <a:rPr lang="en-US" sz="2557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CORRECTIVE ACTION</a:t>
            </a:r>
            <a:r>
              <a:rPr lang="en-US" sz="25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THAT COMPANY SHOULD TAKE ARE IMPOROVE DELIVERY TIME, PRIORITIZING HIGH-POPULATED STATES, MAKING STRATEGY TO INCREASE THE  DEMAND OF LOW SELLING ITEMS ETC.</a:t>
            </a:r>
          </a:p>
          <a:p>
            <a:pPr algn="just">
              <a:lnSpc>
                <a:spcPts val="3580"/>
              </a:lnSpc>
            </a:pPr>
            <a:endParaRPr lang="en-US" sz="2557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348097" y="7684262"/>
            <a:ext cx="13761690" cy="13256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80"/>
              </a:lnSpc>
            </a:pPr>
            <a:r>
              <a:rPr lang="en-US" sz="2557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BY IMPLEMENTING THESE CORRECTIVE ACTIONS</a:t>
            </a:r>
            <a:r>
              <a:rPr lang="en-US" sz="25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 THE COMPANY CAN EXPECT IMPROVED DELIVERY EFFECIENCY, HIGHER CUSTOMER SATISFACTION AND INCREASED SALES PERFORMANCE.</a:t>
            </a:r>
          </a:p>
        </p:txBody>
      </p:sp>
      <p:sp>
        <p:nvSpPr>
          <p:cNvPr id="8" name="Freeform 8"/>
          <p:cNvSpPr/>
          <p:nvPr/>
        </p:nvSpPr>
        <p:spPr>
          <a:xfrm>
            <a:off x="1343586" y="2485420"/>
            <a:ext cx="689626" cy="811325"/>
          </a:xfrm>
          <a:custGeom>
            <a:avLst/>
            <a:gdLst/>
            <a:ahLst/>
            <a:cxnLst/>
            <a:rect l="l" t="t" r="r" b="b"/>
            <a:pathLst>
              <a:path w="689626" h="811325">
                <a:moveTo>
                  <a:pt x="0" y="0"/>
                </a:moveTo>
                <a:lnTo>
                  <a:pt x="689626" y="0"/>
                </a:lnTo>
                <a:lnTo>
                  <a:pt x="689626" y="811325"/>
                </a:lnTo>
                <a:lnTo>
                  <a:pt x="0" y="8113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343586" y="4654434"/>
            <a:ext cx="689626" cy="811325"/>
          </a:xfrm>
          <a:custGeom>
            <a:avLst/>
            <a:gdLst/>
            <a:ahLst/>
            <a:cxnLst/>
            <a:rect l="l" t="t" r="r" b="b"/>
            <a:pathLst>
              <a:path w="689626" h="811325">
                <a:moveTo>
                  <a:pt x="0" y="0"/>
                </a:moveTo>
                <a:lnTo>
                  <a:pt x="689626" y="0"/>
                </a:lnTo>
                <a:lnTo>
                  <a:pt x="689626" y="811324"/>
                </a:lnTo>
                <a:lnTo>
                  <a:pt x="0" y="8113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43586" y="5978515"/>
            <a:ext cx="689626" cy="811325"/>
          </a:xfrm>
          <a:custGeom>
            <a:avLst/>
            <a:gdLst/>
            <a:ahLst/>
            <a:cxnLst/>
            <a:rect l="l" t="t" r="r" b="b"/>
            <a:pathLst>
              <a:path w="689626" h="811325">
                <a:moveTo>
                  <a:pt x="0" y="0"/>
                </a:moveTo>
                <a:lnTo>
                  <a:pt x="689626" y="0"/>
                </a:lnTo>
                <a:lnTo>
                  <a:pt x="689626" y="811324"/>
                </a:lnTo>
                <a:lnTo>
                  <a:pt x="0" y="8113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343586" y="7731887"/>
            <a:ext cx="689626" cy="811325"/>
          </a:xfrm>
          <a:custGeom>
            <a:avLst/>
            <a:gdLst/>
            <a:ahLst/>
            <a:cxnLst/>
            <a:rect l="l" t="t" r="r" b="b"/>
            <a:pathLst>
              <a:path w="689626" h="811325">
                <a:moveTo>
                  <a:pt x="0" y="0"/>
                </a:moveTo>
                <a:lnTo>
                  <a:pt x="689626" y="0"/>
                </a:lnTo>
                <a:lnTo>
                  <a:pt x="689626" y="811325"/>
                </a:lnTo>
                <a:lnTo>
                  <a:pt x="0" y="8113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3416" b="-83416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432817" y="-4511893"/>
            <a:ext cx="10455565" cy="10387108"/>
            <a:chOff x="0" y="0"/>
            <a:chExt cx="818157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8157" cy="812800"/>
            </a:xfrm>
            <a:custGeom>
              <a:avLst/>
              <a:gdLst/>
              <a:ahLst/>
              <a:cxnLst/>
              <a:rect l="l" t="t" r="r" b="b"/>
              <a:pathLst>
                <a:path w="818157" h="812800">
                  <a:moveTo>
                    <a:pt x="409078" y="0"/>
                  </a:moveTo>
                  <a:lnTo>
                    <a:pt x="818157" y="406400"/>
                  </a:lnTo>
                  <a:lnTo>
                    <a:pt x="409078" y="812800"/>
                  </a:lnTo>
                  <a:lnTo>
                    <a:pt x="0" y="406400"/>
                  </a:lnTo>
                  <a:lnTo>
                    <a:pt x="409078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C521ED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40621" y="92075"/>
              <a:ext cx="536915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878076" y="15175"/>
            <a:ext cx="1947833" cy="1947833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073831" y="-973916"/>
            <a:ext cx="1947833" cy="194783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073831" y="1080477"/>
            <a:ext cx="1947833" cy="1947833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C521ED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988873" y="7105246"/>
            <a:ext cx="1947833" cy="1947833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C521ED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45809" y="7105246"/>
            <a:ext cx="1947833" cy="1947833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6731271" y="3086100"/>
            <a:ext cx="4825458" cy="4114800"/>
          </a:xfrm>
          <a:custGeom>
            <a:avLst/>
            <a:gdLst/>
            <a:ahLst/>
            <a:cxnLst/>
            <a:rect l="l" t="t" r="r" b="b"/>
            <a:pathLst>
              <a:path w="4825458" h="4114800">
                <a:moveTo>
                  <a:pt x="0" y="0"/>
                </a:moveTo>
                <a:lnTo>
                  <a:pt x="4825458" y="0"/>
                </a:lnTo>
                <a:lnTo>
                  <a:pt x="48254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1180211" y="8533747"/>
            <a:ext cx="376518" cy="321067"/>
          </a:xfrm>
          <a:custGeom>
            <a:avLst/>
            <a:gdLst/>
            <a:ahLst/>
            <a:cxnLst/>
            <a:rect l="l" t="t" r="r" b="b"/>
            <a:pathLst>
              <a:path w="376518" h="321067">
                <a:moveTo>
                  <a:pt x="0" y="0"/>
                </a:moveTo>
                <a:lnTo>
                  <a:pt x="376518" y="0"/>
                </a:lnTo>
                <a:lnTo>
                  <a:pt x="376518" y="321067"/>
                </a:lnTo>
                <a:lnTo>
                  <a:pt x="0" y="3210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1119445" y="7261196"/>
            <a:ext cx="437284" cy="437284"/>
          </a:xfrm>
          <a:custGeom>
            <a:avLst/>
            <a:gdLst/>
            <a:ahLst/>
            <a:cxnLst/>
            <a:rect l="l" t="t" r="r" b="b"/>
            <a:pathLst>
              <a:path w="437284" h="437284">
                <a:moveTo>
                  <a:pt x="0" y="0"/>
                </a:moveTo>
                <a:lnTo>
                  <a:pt x="437284" y="0"/>
                </a:lnTo>
                <a:lnTo>
                  <a:pt x="437284" y="437284"/>
                </a:lnTo>
                <a:lnTo>
                  <a:pt x="0" y="43728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1157488" y="7936605"/>
            <a:ext cx="361199" cy="361199"/>
          </a:xfrm>
          <a:custGeom>
            <a:avLst/>
            <a:gdLst/>
            <a:ahLst/>
            <a:cxnLst/>
            <a:rect l="l" t="t" r="r" b="b"/>
            <a:pathLst>
              <a:path w="361199" h="361199">
                <a:moveTo>
                  <a:pt x="0" y="0"/>
                </a:moveTo>
                <a:lnTo>
                  <a:pt x="361199" y="0"/>
                </a:lnTo>
                <a:lnTo>
                  <a:pt x="361199" y="361199"/>
                </a:lnTo>
                <a:lnTo>
                  <a:pt x="0" y="36119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845809" y="3275960"/>
            <a:ext cx="10465724" cy="1867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3900"/>
              </a:lnSpc>
            </a:pPr>
            <a:r>
              <a:rPr lang="en-US" sz="13900" b="1" spc="1112">
                <a:solidFill>
                  <a:srgbClr val="FFFFFF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THANK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986626" y="5391150"/>
            <a:ext cx="10455565" cy="1867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3900"/>
              </a:lnSpc>
            </a:pPr>
            <a:r>
              <a:rPr lang="en-US" sz="13900" b="1" spc="1112">
                <a:solidFill>
                  <a:srgbClr val="C521ED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YOU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975323" y="6715991"/>
            <a:ext cx="9525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endParaRPr/>
          </a:p>
        </p:txBody>
      </p:sp>
      <p:sp>
        <p:nvSpPr>
          <p:cNvPr id="28" name="TextBox 28"/>
          <p:cNvSpPr txBox="1"/>
          <p:nvPr/>
        </p:nvSpPr>
        <p:spPr>
          <a:xfrm>
            <a:off x="11762679" y="7220590"/>
            <a:ext cx="4201217" cy="4064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goyalsaransh61@gmail.com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762680" y="8516994"/>
            <a:ext cx="6376243" cy="647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 spc="190">
                <a:solidFill>
                  <a:srgbClr val="FFFFFF"/>
                </a:solidFill>
                <a:latin typeface="Duru Sans"/>
                <a:ea typeface="Duru Sans"/>
                <a:cs typeface="Duru Sans"/>
                <a:sym typeface="Duru Sans"/>
              </a:rPr>
              <a:t>WWW.LINKEDIN.COM/IN/SARANSHGOYAL007</a:t>
            </a:r>
          </a:p>
          <a:p>
            <a:pPr algn="ctr">
              <a:lnSpc>
                <a:spcPts val="2660"/>
              </a:lnSpc>
              <a:spcBef>
                <a:spcPct val="0"/>
              </a:spcBef>
            </a:pPr>
            <a:endParaRPr lang="en-US" sz="1900" spc="190">
              <a:solidFill>
                <a:srgbClr val="FFFFFF"/>
              </a:solidFill>
              <a:latin typeface="Duru Sans"/>
              <a:ea typeface="Duru Sans"/>
              <a:cs typeface="Duru Sans"/>
              <a:sym typeface="Duru San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1762680" y="7908030"/>
            <a:ext cx="5001320" cy="324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 spc="190" dirty="0">
                <a:solidFill>
                  <a:srgbClr val="FFFFFF"/>
                </a:solidFill>
                <a:latin typeface="Duru Sans"/>
                <a:ea typeface="Duru Sans"/>
                <a:cs typeface="Duru Sans"/>
                <a:sym typeface="Duru Sans"/>
              </a:rPr>
              <a:t>SARANSH3041 (SARANSH GOYAL)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825</Words>
  <Application>Microsoft Office PowerPoint</Application>
  <PresentationFormat>Custom</PresentationFormat>
  <Paragraphs>76</Paragraphs>
  <Slides>15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7" baseType="lpstr">
      <vt:lpstr>Josefin Sans Bold</vt:lpstr>
      <vt:lpstr>Barabara</vt:lpstr>
      <vt:lpstr>Aileron Ultra-Bold</vt:lpstr>
      <vt:lpstr>Canva Sans Bold</vt:lpstr>
      <vt:lpstr>Aileron</vt:lpstr>
      <vt:lpstr>Duru Sans</vt:lpstr>
      <vt:lpstr>Josefin Sans</vt:lpstr>
      <vt:lpstr>Canva Sans</vt:lpstr>
      <vt:lpstr>Arial</vt:lpstr>
      <vt:lpstr>Calibri</vt:lpstr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Brand</dc:title>
  <cp:lastModifiedBy>goyalsaransh61@gmail.com</cp:lastModifiedBy>
  <cp:revision>3</cp:revision>
  <dcterms:created xsi:type="dcterms:W3CDTF">2006-08-16T00:00:00Z</dcterms:created>
  <dcterms:modified xsi:type="dcterms:W3CDTF">2025-12-24T14:33:07Z</dcterms:modified>
  <dc:identifier>DAGzZfn7QoY</dc:identifier>
</cp:coreProperties>
</file>